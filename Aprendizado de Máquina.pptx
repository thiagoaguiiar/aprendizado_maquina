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44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136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090D19F-9EE3-43D8-9670-6A58E05C31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D55E1F-C225-46B0-8D02-A7F01D1EEC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195959-FF02-4120-B728-3CABDB8BDC13}" type="datetime1">
              <a:rPr lang="pt-BR" smtClean="0"/>
              <a:t>03/12/2025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CF677B-DDC3-4004-9B1B-95E07E15D2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4AD43975-40E2-4F98-BE43-D14876F36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8BC8066-2EF6-4176-9ACB-F71BDAE9FF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40328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94394A6-6279-4692-944A-4F363795D23A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EA54082-0EDA-40C0-B23E-AB88047B2438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250936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111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251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4FBB-3F4D-F77F-C9F9-9A94917E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F306580-A885-7523-63F1-930E7AC17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2C6465B-1326-AC4C-C3EE-3196629BC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D098890-BB1B-46A2-0C19-997D0FC16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753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A27D-0F16-7C9C-B8FD-11A11C55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A830D29-5FDD-C797-FFD7-7DA9BA8F3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A23B1B7-58A1-AC53-BB33-20CC3E7D4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B52186F-253C-E9CE-2C0E-1AB77F3C5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9629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FEA2-4DA1-F5BB-FA4F-BF86BDC6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122B8C1-E8AC-E6D8-C4D4-4F45860D3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9A49381-626A-953F-E71E-906BDC72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846EF16-6EE3-DAEE-FD70-566315F70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497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C536-7202-CA63-D0D4-24C71D15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CE2345C-6DD3-849B-BEF3-1606F5CC3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D36F5F1-F165-BF56-AF7B-0D57A4E6C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EB583E3-784B-1C63-61C9-99D16535C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352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29AF-052C-E652-87DF-D8FED0FA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A4897BA-3FE4-0DD4-B2E4-E685E6EAC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84A340D-0C52-F32C-B956-4B5B91456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9564AF2-44B5-3E68-7FDC-DC25ED873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569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AEC80-A694-1275-E5DA-59DB0916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915C050-9190-024B-E479-F446CAE15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84F2DF0-A7FA-EB24-DAB5-82D5B512F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6982B7F-DACF-78F3-B82C-30B9AD76A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2481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12F7-2D7C-188F-3847-D0DC3E2E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ACE7AC9-2D13-DE50-15E4-EA79DD037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4693266-3E74-6CA6-3C92-D3EAFC834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00BEE41-4DC4-DA34-9EFD-45FCAA7334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688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182E-5F7F-4C63-1A3C-2BDBF5DA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C8CFB0C-E1F7-2F39-A14B-BA91F89C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D46AFA5-4463-CE46-C374-C49FF84DB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4948157-D1A7-0441-6B86-F0ADDDED9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152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F1142-1533-95FA-3B0C-DA528EFFF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ADC7D3C-B268-971B-3BED-47E82366A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A3B1D14-67A6-D665-35CD-CCA549726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D809273-74BF-A603-0F50-59CEA9A9E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326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1D29-5215-2B0C-542A-64300F0F2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ED2E6B42-AF8F-A269-E7EB-1EA1244CB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CACE77A-1AFE-BA82-B563-6360C9571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4CABAEA-4D06-8D49-6D0D-CA703B2F3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EA54082-0EDA-40C0-B23E-AB88047B2438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192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75420" y="2493085"/>
            <a:ext cx="4971618" cy="2033753"/>
          </a:xfrm>
        </p:spPr>
        <p:txBody>
          <a:bodyPr rtlCol="0" anchor="ctr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t-BR" noProof="0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6569348" y="2493085"/>
            <a:ext cx="4984220" cy="203375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 dirty="0"/>
              <a:t>Subtítulo</a:t>
            </a:r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6108192" y="2842697"/>
            <a:ext cx="0" cy="1334530"/>
          </a:xfrm>
          <a:prstGeom prst="line">
            <a:avLst/>
          </a:prstGeom>
          <a:ln w="889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 descr="Borda do retângulo colorida"/>
          <p:cNvSpPr/>
          <p:nvPr userDrawn="1"/>
        </p:nvSpPr>
        <p:spPr>
          <a:xfrm>
            <a:off x="0" y="6479628"/>
            <a:ext cx="3054096" cy="378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0" name="Retângulo 9" descr="Borda do retângulo colorida"/>
          <p:cNvSpPr/>
          <p:nvPr userDrawn="1"/>
        </p:nvSpPr>
        <p:spPr>
          <a:xfrm>
            <a:off x="3054096" y="6479628"/>
            <a:ext cx="3054096" cy="3783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1" name="Retângulo 10" descr="Borda do retângulo colorida"/>
          <p:cNvSpPr/>
          <p:nvPr userDrawn="1"/>
        </p:nvSpPr>
        <p:spPr>
          <a:xfrm>
            <a:off x="6108192" y="6479628"/>
            <a:ext cx="3054096" cy="378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Retângulo 11" descr="Borda do retângulo colorida"/>
          <p:cNvSpPr/>
          <p:nvPr userDrawn="1"/>
        </p:nvSpPr>
        <p:spPr>
          <a:xfrm>
            <a:off x="9137904" y="6479628"/>
            <a:ext cx="3054096" cy="3783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9770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1610211"/>
            <a:ext cx="6934201" cy="96547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 dirty="0"/>
              <a:t>Título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838201" y="2727433"/>
            <a:ext cx="6934200" cy="2585545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Corpo de texto </a:t>
            </a:r>
          </a:p>
        </p:txBody>
      </p:sp>
      <p:sp>
        <p:nvSpPr>
          <p:cNvPr id="7" name="Retângulo 6" descr="Borda do retângulo colorida"/>
          <p:cNvSpPr/>
          <p:nvPr userDrawn="1"/>
        </p:nvSpPr>
        <p:spPr>
          <a:xfrm>
            <a:off x="0" y="6479628"/>
            <a:ext cx="3054096" cy="378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8" name="Retângulo 7" descr="Borda do retângulo colorida"/>
          <p:cNvSpPr/>
          <p:nvPr userDrawn="1"/>
        </p:nvSpPr>
        <p:spPr>
          <a:xfrm>
            <a:off x="3054096" y="6479628"/>
            <a:ext cx="3054096" cy="3783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 descr="Borda do retângulo colorida"/>
          <p:cNvSpPr/>
          <p:nvPr userDrawn="1"/>
        </p:nvSpPr>
        <p:spPr>
          <a:xfrm>
            <a:off x="6108192" y="6479628"/>
            <a:ext cx="3054096" cy="378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10" name="Retângulo 9" descr="Borda do retângulo colorida"/>
          <p:cNvSpPr/>
          <p:nvPr userDrawn="1"/>
        </p:nvSpPr>
        <p:spPr>
          <a:xfrm>
            <a:off x="9137904" y="6479628"/>
            <a:ext cx="3054096" cy="3783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0591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 Mê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 dirty="0"/>
              <a:t>Título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926758" y="2380595"/>
            <a:ext cx="4748828" cy="450383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850392" algn="ctr"/>
                <a:tab pos="1545336" algn="ctr"/>
                <a:tab pos="2240280" algn="ctr"/>
                <a:tab pos="2926080" algn="ctr"/>
                <a:tab pos="3621024" algn="ctr"/>
                <a:tab pos="4315968" algn="ctr"/>
              </a:tabLst>
              <a:defRPr sz="2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558454" y="2317530"/>
            <a:ext cx="4795345" cy="4083269"/>
          </a:xfrm>
        </p:spPr>
        <p:txBody>
          <a:bodyPr rtlCol="0">
            <a:normAutofit/>
          </a:bodyPr>
          <a:lstStyle>
            <a:lvl1pPr marL="0" indent="0">
              <a:lnSpc>
                <a:spcPct val="137000"/>
              </a:lnSpc>
              <a:spcBef>
                <a:spcPts val="0"/>
              </a:spcBef>
              <a:buNone/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 noProof="0" dirty="0"/>
              <a:t>Mês</a:t>
            </a:r>
          </a:p>
        </p:txBody>
      </p:sp>
      <p:grpSp>
        <p:nvGrpSpPr>
          <p:cNvPr id="23" name="Grupo 22" descr="Linhas pontilhadas"/>
          <p:cNvGrpSpPr/>
          <p:nvPr userDrawn="1"/>
        </p:nvGrpSpPr>
        <p:grpSpPr>
          <a:xfrm>
            <a:off x="6557963" y="2680139"/>
            <a:ext cx="4795836" cy="3565213"/>
            <a:chOff x="6557963" y="2680139"/>
            <a:chExt cx="4795836" cy="3565213"/>
          </a:xfrm>
        </p:grpSpPr>
        <p:cxnSp>
          <p:nvCxnSpPr>
            <p:cNvPr id="11" name="Conector Reto 10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tângulo 23"/>
          <p:cNvSpPr/>
          <p:nvPr userDrawn="1"/>
        </p:nvSpPr>
        <p:spPr>
          <a:xfrm>
            <a:off x="838200" y="1618737"/>
            <a:ext cx="4837386" cy="548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sz="2000" noProof="0" dirty="0"/>
              <a:t>Texto</a:t>
            </a:r>
          </a:p>
        </p:txBody>
      </p:sp>
      <p:grpSp>
        <p:nvGrpSpPr>
          <p:cNvPr id="25" name="Grupo 24" descr="Formas circulares"/>
          <p:cNvGrpSpPr/>
          <p:nvPr userDrawn="1"/>
        </p:nvGrpSpPr>
        <p:grpSpPr>
          <a:xfrm>
            <a:off x="987552" y="3151398"/>
            <a:ext cx="4471416" cy="2875416"/>
            <a:chOff x="987552" y="3151398"/>
            <a:chExt cx="4471416" cy="2875416"/>
          </a:xfrm>
        </p:grpSpPr>
        <p:grpSp>
          <p:nvGrpSpPr>
            <p:cNvPr id="26" name="Grupo 25"/>
            <p:cNvGrpSpPr/>
            <p:nvPr/>
          </p:nvGrpSpPr>
          <p:grpSpPr>
            <a:xfrm>
              <a:off x="987552" y="3151398"/>
              <a:ext cx="4471416" cy="310901"/>
              <a:chOff x="987552" y="3151398"/>
              <a:chExt cx="4471416" cy="310901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987552" y="315140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682496" y="315140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377440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3063240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758184" y="315140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4453128" y="3151399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5148072" y="315139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7" name="Grupo 26"/>
            <p:cNvGrpSpPr/>
            <p:nvPr/>
          </p:nvGrpSpPr>
          <p:grpSpPr>
            <a:xfrm>
              <a:off x="987552" y="3792532"/>
              <a:ext cx="4471416" cy="310901"/>
              <a:chOff x="987552" y="3792532"/>
              <a:chExt cx="4471416" cy="310901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987552" y="3792537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1682496" y="3792536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2377440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063240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758184" y="379253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4453128" y="379253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148072" y="379253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8" name="Grupo 27"/>
            <p:cNvGrpSpPr/>
            <p:nvPr/>
          </p:nvGrpSpPr>
          <p:grpSpPr>
            <a:xfrm>
              <a:off x="987552" y="4433661"/>
              <a:ext cx="4471416" cy="310901"/>
              <a:chOff x="987552" y="4433661"/>
              <a:chExt cx="4471416" cy="310901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987552" y="4433666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1682496" y="443366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377440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063240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3758184" y="443366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4453128" y="443366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148072" y="4433661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9" name="Grupo 28"/>
            <p:cNvGrpSpPr/>
            <p:nvPr/>
          </p:nvGrpSpPr>
          <p:grpSpPr>
            <a:xfrm>
              <a:off x="987552" y="5074788"/>
              <a:ext cx="4471416" cy="310901"/>
              <a:chOff x="987552" y="5074788"/>
              <a:chExt cx="4471416" cy="310901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987552" y="507479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682496" y="5074792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2377440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063240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3758184" y="5074790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4453128" y="5074789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5148072" y="507478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30" name="Grupo 29"/>
            <p:cNvGrpSpPr/>
            <p:nvPr/>
          </p:nvGrpSpPr>
          <p:grpSpPr>
            <a:xfrm>
              <a:off x="987552" y="5715913"/>
              <a:ext cx="4471416" cy="310901"/>
              <a:chOff x="987552" y="5715913"/>
              <a:chExt cx="4471416" cy="310901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987552" y="5715918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682496" y="5715917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2377440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063240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3758184" y="5715915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4453128" y="5715914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5148072" y="5715913"/>
                <a:ext cx="310896" cy="310896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214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ês Me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 dirty="0"/>
              <a:t>Título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96112" y="2929835"/>
            <a:ext cx="3310128" cy="369421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442460" y="2930778"/>
            <a:ext cx="3310128" cy="362604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 noProof="0" dirty="0"/>
              <a:t>Mês</a:t>
            </a:r>
          </a:p>
        </p:txBody>
      </p:sp>
      <p:sp>
        <p:nvSpPr>
          <p:cNvPr id="6" name="Espaço Reservado para Conteúdo 3"/>
          <p:cNvSpPr>
            <a:spLocks noGrp="1"/>
          </p:cNvSpPr>
          <p:nvPr>
            <p:ph sz="half" idx="11" hasCustomPrompt="1"/>
          </p:nvPr>
        </p:nvSpPr>
        <p:spPr>
          <a:xfrm>
            <a:off x="7988808" y="2929835"/>
            <a:ext cx="3310128" cy="369421"/>
          </a:xfrm>
        </p:spPr>
        <p:txBody>
          <a:bodyPr rtlCol="0">
            <a:normAutofit/>
          </a:bodyPr>
          <a:lstStyle>
            <a:lvl1pPr marL="0" indent="0">
              <a:buNone/>
              <a:tabLst>
                <a:tab pos="576072" algn="ctr"/>
                <a:tab pos="1051560" algn="ctr"/>
                <a:tab pos="1527048" algn="ctr"/>
                <a:tab pos="2002536" algn="ctr"/>
                <a:tab pos="2478024" algn="ctr"/>
                <a:tab pos="2953512" algn="ctr"/>
              </a:tabLst>
              <a:defRPr sz="1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7" name="Retângulo 6"/>
          <p:cNvSpPr/>
          <p:nvPr userDrawn="1"/>
        </p:nvSpPr>
        <p:spPr>
          <a:xfrm>
            <a:off x="813486" y="1915303"/>
            <a:ext cx="3364993" cy="7537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sp>
        <p:nvSpPr>
          <p:cNvPr id="8" name="Retângulo 7"/>
          <p:cNvSpPr/>
          <p:nvPr userDrawn="1"/>
        </p:nvSpPr>
        <p:spPr>
          <a:xfrm>
            <a:off x="4364076" y="1915303"/>
            <a:ext cx="3364992" cy="7537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7914665" y="1920240"/>
            <a:ext cx="3364992" cy="75376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grpSp>
        <p:nvGrpSpPr>
          <p:cNvPr id="11" name="Grupo 10" descr="Formas circulares"/>
          <p:cNvGrpSpPr/>
          <p:nvPr userDrawn="1"/>
        </p:nvGrpSpPr>
        <p:grpSpPr>
          <a:xfrm>
            <a:off x="964478" y="3558746"/>
            <a:ext cx="3082157" cy="2218040"/>
            <a:chOff x="976835" y="3558746"/>
            <a:chExt cx="3082157" cy="2218040"/>
          </a:xfrm>
        </p:grpSpPr>
        <p:grpSp>
          <p:nvGrpSpPr>
            <p:cNvPr id="12" name="Grupo 11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3" name="Grupo 12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4" name="Grupo 13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5" name="Grupo 14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6" name="Grupo 15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  <p:grpSp>
        <p:nvGrpSpPr>
          <p:cNvPr id="52" name="Grupo 51" descr="Formas circulares"/>
          <p:cNvGrpSpPr/>
          <p:nvPr userDrawn="1"/>
        </p:nvGrpSpPr>
        <p:grpSpPr>
          <a:xfrm>
            <a:off x="4517850" y="3558746"/>
            <a:ext cx="3082157" cy="2218040"/>
            <a:chOff x="976835" y="3558746"/>
            <a:chExt cx="3082157" cy="2218040"/>
          </a:xfrm>
        </p:grpSpPr>
        <p:grpSp>
          <p:nvGrpSpPr>
            <p:cNvPr id="53" name="Grupo 52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86" name="Oval 85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55" name="Grupo 54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56" name="Grupo 55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57" name="Grupo 56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58" name="Oval 57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  <p:grpSp>
        <p:nvGrpSpPr>
          <p:cNvPr id="93" name="Grupo 92" descr="Formas circulares"/>
          <p:cNvGrpSpPr/>
          <p:nvPr userDrawn="1"/>
        </p:nvGrpSpPr>
        <p:grpSpPr>
          <a:xfrm>
            <a:off x="8068440" y="3558746"/>
            <a:ext cx="3082157" cy="2218040"/>
            <a:chOff x="976835" y="3558746"/>
            <a:chExt cx="3082157" cy="2218040"/>
          </a:xfrm>
        </p:grpSpPr>
        <p:grpSp>
          <p:nvGrpSpPr>
            <p:cNvPr id="94" name="Grupo 93"/>
            <p:cNvGrpSpPr/>
            <p:nvPr/>
          </p:nvGrpSpPr>
          <p:grpSpPr>
            <a:xfrm>
              <a:off x="977464" y="3558746"/>
              <a:ext cx="3081528" cy="228600"/>
              <a:chOff x="914400" y="3558746"/>
              <a:chExt cx="3081528" cy="228600"/>
            </a:xfrm>
          </p:grpSpPr>
          <p:sp>
            <p:nvSpPr>
              <p:cNvPr id="127" name="Oval 126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95" name="Grupo 94"/>
            <p:cNvGrpSpPr/>
            <p:nvPr/>
          </p:nvGrpSpPr>
          <p:grpSpPr>
            <a:xfrm>
              <a:off x="977464" y="4056106"/>
              <a:ext cx="3081528" cy="228600"/>
              <a:chOff x="914400" y="3558746"/>
              <a:chExt cx="3081528" cy="228600"/>
            </a:xfrm>
          </p:grpSpPr>
          <p:sp>
            <p:nvSpPr>
              <p:cNvPr id="120" name="Oval 119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96" name="Grupo 95"/>
            <p:cNvGrpSpPr/>
            <p:nvPr/>
          </p:nvGrpSpPr>
          <p:grpSpPr>
            <a:xfrm>
              <a:off x="976835" y="4553466"/>
              <a:ext cx="3081528" cy="228600"/>
              <a:chOff x="914400" y="3558746"/>
              <a:chExt cx="3081528" cy="228600"/>
            </a:xfrm>
          </p:grpSpPr>
          <p:sp>
            <p:nvSpPr>
              <p:cNvPr id="113" name="Oval 112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97" name="Grupo 96"/>
            <p:cNvGrpSpPr/>
            <p:nvPr/>
          </p:nvGrpSpPr>
          <p:grpSpPr>
            <a:xfrm>
              <a:off x="976835" y="5046565"/>
              <a:ext cx="3081528" cy="228600"/>
              <a:chOff x="914400" y="3558746"/>
              <a:chExt cx="3081528" cy="228600"/>
            </a:xfrm>
          </p:grpSpPr>
          <p:sp>
            <p:nvSpPr>
              <p:cNvPr id="106" name="Oval 105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98" name="Grupo 97"/>
            <p:cNvGrpSpPr/>
            <p:nvPr/>
          </p:nvGrpSpPr>
          <p:grpSpPr>
            <a:xfrm>
              <a:off x="976835" y="5548186"/>
              <a:ext cx="3081528" cy="228600"/>
              <a:chOff x="914400" y="3558746"/>
              <a:chExt cx="3081528" cy="228600"/>
            </a:xfrm>
          </p:grpSpPr>
          <p:sp>
            <p:nvSpPr>
              <p:cNvPr id="99" name="Oval 98"/>
              <p:cNvSpPr/>
              <p:nvPr/>
            </p:nvSpPr>
            <p:spPr>
              <a:xfrm>
                <a:off x="914400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138988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1865376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2340864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2816352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288425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3767328" y="3558746"/>
                <a:ext cx="228600" cy="2286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983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to me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837386" cy="990709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 dirty="0"/>
              <a:t>Título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198" y="1877694"/>
            <a:ext cx="2487168" cy="369421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3541662" y="1877694"/>
            <a:ext cx="2487168" cy="362604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7963" y="365125"/>
            <a:ext cx="4795837" cy="990709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 noProof="0" dirty="0"/>
              <a:t>Mês</a:t>
            </a:r>
          </a:p>
        </p:txBody>
      </p:sp>
      <p:sp>
        <p:nvSpPr>
          <p:cNvPr id="6" name="Espaço Reservado para Conteúdo 3"/>
          <p:cNvSpPr>
            <a:spLocks noGrp="1"/>
          </p:cNvSpPr>
          <p:nvPr>
            <p:ph sz="half" idx="11" hasCustomPrompt="1"/>
          </p:nvPr>
        </p:nvSpPr>
        <p:spPr>
          <a:xfrm>
            <a:off x="6213291" y="1881347"/>
            <a:ext cx="2487168" cy="369421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7" name="Espaço Reservado para Conteúdo 3"/>
          <p:cNvSpPr>
            <a:spLocks noGrp="1"/>
          </p:cNvSpPr>
          <p:nvPr>
            <p:ph sz="half" idx="12" hasCustomPrompt="1"/>
          </p:nvPr>
        </p:nvSpPr>
        <p:spPr>
          <a:xfrm>
            <a:off x="8884920" y="1881348"/>
            <a:ext cx="2487168" cy="369421"/>
          </a:xfrm>
        </p:spPr>
        <p:txBody>
          <a:bodyPr rtlCol="0" anchor="ctr">
            <a:normAutofit/>
          </a:bodyPr>
          <a:lstStyle>
            <a:lvl1pPr marL="0" indent="0">
              <a:buNone/>
              <a:tabLst>
                <a:tab pos="429768" algn="ctr"/>
                <a:tab pos="795528" algn="ctr"/>
                <a:tab pos="1161288" algn="ctr"/>
                <a:tab pos="1527048" algn="ctr"/>
                <a:tab pos="1892808" algn="ctr"/>
                <a:tab pos="2258568" algn="ctr"/>
              </a:tabLst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838198" y="1355834"/>
            <a:ext cx="2468880" cy="5133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sp>
        <p:nvSpPr>
          <p:cNvPr id="14" name="Retângulo 13"/>
          <p:cNvSpPr/>
          <p:nvPr userDrawn="1"/>
        </p:nvSpPr>
        <p:spPr>
          <a:xfrm>
            <a:off x="3541662" y="1355834"/>
            <a:ext cx="2468880" cy="5133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sp>
        <p:nvSpPr>
          <p:cNvPr id="15" name="Retângulo 14"/>
          <p:cNvSpPr/>
          <p:nvPr userDrawn="1"/>
        </p:nvSpPr>
        <p:spPr>
          <a:xfrm>
            <a:off x="6213291" y="1355834"/>
            <a:ext cx="2468880" cy="513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sp>
        <p:nvSpPr>
          <p:cNvPr id="16" name="Retângulo 15"/>
          <p:cNvSpPr/>
          <p:nvPr userDrawn="1"/>
        </p:nvSpPr>
        <p:spPr>
          <a:xfrm>
            <a:off x="8884920" y="1355834"/>
            <a:ext cx="2468880" cy="5133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noProof="0" dirty="0"/>
              <a:t>Texto</a:t>
            </a:r>
          </a:p>
        </p:txBody>
      </p:sp>
      <p:grpSp>
        <p:nvGrpSpPr>
          <p:cNvPr id="21" name="Grupo 20" descr="Formas circulares"/>
          <p:cNvGrpSpPr/>
          <p:nvPr userDrawn="1"/>
        </p:nvGrpSpPr>
        <p:grpSpPr>
          <a:xfrm>
            <a:off x="905433" y="2393577"/>
            <a:ext cx="2358975" cy="1394592"/>
            <a:chOff x="905433" y="2595282"/>
            <a:chExt cx="2358975" cy="1394592"/>
          </a:xfrm>
        </p:grpSpPr>
        <p:grpSp>
          <p:nvGrpSpPr>
            <p:cNvPr id="22" name="Grupo 21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3" name="Grupo 22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4" name="Grupo 23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5" name="Grupo 24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26" name="Grupo 25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  <p:grpSp>
        <p:nvGrpSpPr>
          <p:cNvPr id="62" name="Grupo 61" descr="Formas circulares"/>
          <p:cNvGrpSpPr/>
          <p:nvPr userDrawn="1"/>
        </p:nvGrpSpPr>
        <p:grpSpPr>
          <a:xfrm>
            <a:off x="6287795" y="2393577"/>
            <a:ext cx="2358975" cy="1394592"/>
            <a:chOff x="905433" y="2595282"/>
            <a:chExt cx="2358975" cy="1394592"/>
          </a:xfrm>
        </p:grpSpPr>
        <p:grpSp>
          <p:nvGrpSpPr>
            <p:cNvPr id="63" name="Grupo 62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96" name="Oval 95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64" name="Grupo 63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89" name="Oval 88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65" name="Grupo 64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66" name="Grupo 65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67" name="Grupo 66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  <p:grpSp>
        <p:nvGrpSpPr>
          <p:cNvPr id="103" name="Grupo 102" descr="Formas circulares"/>
          <p:cNvGrpSpPr/>
          <p:nvPr userDrawn="1"/>
        </p:nvGrpSpPr>
        <p:grpSpPr>
          <a:xfrm>
            <a:off x="3596614" y="2393621"/>
            <a:ext cx="2358975" cy="1394592"/>
            <a:chOff x="905433" y="2595282"/>
            <a:chExt cx="2358975" cy="1394592"/>
          </a:xfrm>
        </p:grpSpPr>
        <p:grpSp>
          <p:nvGrpSpPr>
            <p:cNvPr id="104" name="Grupo 103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137" name="Oval 13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05" name="Grupo 104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130" name="Oval 129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06" name="Grupo 105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07" name="Grupo 106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08" name="Grupo 107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109" name="Oval 108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  <p:grpSp>
        <p:nvGrpSpPr>
          <p:cNvPr id="144" name="Grupo 143" descr="Formas circulares"/>
          <p:cNvGrpSpPr/>
          <p:nvPr userDrawn="1"/>
        </p:nvGrpSpPr>
        <p:grpSpPr>
          <a:xfrm>
            <a:off x="8969655" y="2395728"/>
            <a:ext cx="2358975" cy="1394592"/>
            <a:chOff x="905433" y="2595282"/>
            <a:chExt cx="2358975" cy="1394592"/>
          </a:xfrm>
        </p:grpSpPr>
        <p:grpSp>
          <p:nvGrpSpPr>
            <p:cNvPr id="145" name="Grupo 144"/>
            <p:cNvGrpSpPr/>
            <p:nvPr/>
          </p:nvGrpSpPr>
          <p:grpSpPr>
            <a:xfrm>
              <a:off x="905433" y="2595282"/>
              <a:ext cx="2358975" cy="179758"/>
              <a:chOff x="891986" y="2595282"/>
              <a:chExt cx="2358975" cy="179758"/>
            </a:xfrm>
          </p:grpSpPr>
          <p:sp>
            <p:nvSpPr>
              <p:cNvPr id="178" name="Oval 177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46" name="Grupo 145"/>
            <p:cNvGrpSpPr/>
            <p:nvPr/>
          </p:nvGrpSpPr>
          <p:grpSpPr>
            <a:xfrm>
              <a:off x="905433" y="2903611"/>
              <a:ext cx="2358975" cy="179758"/>
              <a:chOff x="891986" y="2595282"/>
              <a:chExt cx="2358975" cy="179758"/>
            </a:xfrm>
          </p:grpSpPr>
          <p:sp>
            <p:nvSpPr>
              <p:cNvPr id="171" name="Oval 170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47" name="Grupo 146"/>
            <p:cNvGrpSpPr/>
            <p:nvPr/>
          </p:nvGrpSpPr>
          <p:grpSpPr>
            <a:xfrm>
              <a:off x="905433" y="3205216"/>
              <a:ext cx="2358975" cy="179758"/>
              <a:chOff x="891986" y="2595282"/>
              <a:chExt cx="2358975" cy="179758"/>
            </a:xfrm>
          </p:grpSpPr>
          <p:sp>
            <p:nvSpPr>
              <p:cNvPr id="164" name="Oval 163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48" name="Grupo 147"/>
            <p:cNvGrpSpPr/>
            <p:nvPr/>
          </p:nvGrpSpPr>
          <p:grpSpPr>
            <a:xfrm>
              <a:off x="905433" y="3500097"/>
              <a:ext cx="2358975" cy="179758"/>
              <a:chOff x="891986" y="2595282"/>
              <a:chExt cx="2358975" cy="179758"/>
            </a:xfrm>
          </p:grpSpPr>
          <p:sp>
            <p:nvSpPr>
              <p:cNvPr id="157" name="Oval 156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  <p:grpSp>
          <p:nvGrpSpPr>
            <p:cNvPr id="149" name="Grupo 148"/>
            <p:cNvGrpSpPr/>
            <p:nvPr/>
          </p:nvGrpSpPr>
          <p:grpSpPr>
            <a:xfrm>
              <a:off x="905433" y="3810116"/>
              <a:ext cx="2358975" cy="179758"/>
              <a:chOff x="891986" y="2595282"/>
              <a:chExt cx="2358975" cy="179758"/>
            </a:xfrm>
          </p:grpSpPr>
          <p:sp>
            <p:nvSpPr>
              <p:cNvPr id="150" name="Oval 149"/>
              <p:cNvSpPr/>
              <p:nvPr/>
            </p:nvSpPr>
            <p:spPr>
              <a:xfrm>
                <a:off x="891986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124842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161418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197994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2345705" y="2596896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2711465" y="2600228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3077225" y="2595282"/>
                <a:ext cx="173736" cy="17481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pt-BR" noProof="0" dirty="0"/>
              </a:p>
            </p:txBody>
          </p:sp>
        </p:grpSp>
      </p:grpSp>
      <p:grpSp>
        <p:nvGrpSpPr>
          <p:cNvPr id="349" name="Grupo 348" descr="Linhas pontilhadas"/>
          <p:cNvGrpSpPr/>
          <p:nvPr userDrawn="1"/>
        </p:nvGrpSpPr>
        <p:grpSpPr>
          <a:xfrm>
            <a:off x="896377" y="4239037"/>
            <a:ext cx="2384144" cy="2121587"/>
            <a:chOff x="6557963" y="2680139"/>
            <a:chExt cx="4795836" cy="3565213"/>
          </a:xfrm>
        </p:grpSpPr>
        <p:cxnSp>
          <p:nvCxnSpPr>
            <p:cNvPr id="350" name="Conector Reto 349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Conector Reto 350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Conector Reto 351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Conector Reto 352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Conector Reto 353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Conector Reto 354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Conector Reto 355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ector Reto 356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Conector Reto 357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Conector Reto 358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Conector Reto 359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2" name="Grupo 361" descr="Linhas pontilhadas"/>
          <p:cNvGrpSpPr/>
          <p:nvPr userDrawn="1"/>
        </p:nvGrpSpPr>
        <p:grpSpPr>
          <a:xfrm>
            <a:off x="3599840" y="4239037"/>
            <a:ext cx="2384144" cy="2121587"/>
            <a:chOff x="6557963" y="2680139"/>
            <a:chExt cx="4795836" cy="3565213"/>
          </a:xfrm>
        </p:grpSpPr>
        <p:cxnSp>
          <p:nvCxnSpPr>
            <p:cNvPr id="363" name="Conector Reto 362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ector Reto 363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Conector Reto 364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Conector Reto 365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ector Reto 366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Conector Reto 367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Conector Reto 368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ector Reto 369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onector Reto 370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Conector Reto 371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Conector Reto 372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5" name="Grupo 374" descr="Linhas pontilhadas"/>
          <p:cNvGrpSpPr/>
          <p:nvPr userDrawn="1"/>
        </p:nvGrpSpPr>
        <p:grpSpPr>
          <a:xfrm>
            <a:off x="6298027" y="4239037"/>
            <a:ext cx="2384144" cy="2121587"/>
            <a:chOff x="6557963" y="2680139"/>
            <a:chExt cx="4795836" cy="3565213"/>
          </a:xfrm>
        </p:grpSpPr>
        <p:cxnSp>
          <p:nvCxnSpPr>
            <p:cNvPr id="376" name="Conector Reto 375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ector Reto 376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ector Reto 377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Conector Reto 378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Conector Reto 379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Conector Reto 380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Conector Reto 381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Conector Reto 382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Conector Reto 383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Conector Reto 384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Conector Reto 385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Grupo 400" descr="Linhas pontilhadas"/>
          <p:cNvGrpSpPr/>
          <p:nvPr userDrawn="1"/>
        </p:nvGrpSpPr>
        <p:grpSpPr>
          <a:xfrm>
            <a:off x="8996214" y="4232850"/>
            <a:ext cx="2384144" cy="2121587"/>
            <a:chOff x="6557963" y="2680139"/>
            <a:chExt cx="4795836" cy="3565213"/>
          </a:xfrm>
        </p:grpSpPr>
        <p:cxnSp>
          <p:nvCxnSpPr>
            <p:cNvPr id="402" name="Conector Reto 401"/>
            <p:cNvCxnSpPr/>
            <p:nvPr userDrawn="1"/>
          </p:nvCxnSpPr>
          <p:spPr>
            <a:xfrm>
              <a:off x="6557963" y="2680139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ector Reto 402"/>
            <p:cNvCxnSpPr/>
            <p:nvPr userDrawn="1"/>
          </p:nvCxnSpPr>
          <p:spPr>
            <a:xfrm>
              <a:off x="6557963" y="3037491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ector Reto 403"/>
            <p:cNvCxnSpPr/>
            <p:nvPr userDrawn="1"/>
          </p:nvCxnSpPr>
          <p:spPr>
            <a:xfrm>
              <a:off x="6557963" y="339242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ector Reto 404"/>
            <p:cNvCxnSpPr/>
            <p:nvPr userDrawn="1"/>
          </p:nvCxnSpPr>
          <p:spPr>
            <a:xfrm>
              <a:off x="6557963" y="374904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Conector Reto 405"/>
            <p:cNvCxnSpPr/>
            <p:nvPr userDrawn="1"/>
          </p:nvCxnSpPr>
          <p:spPr>
            <a:xfrm>
              <a:off x="6557963" y="410565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Conector Reto 406"/>
            <p:cNvCxnSpPr/>
            <p:nvPr userDrawn="1"/>
          </p:nvCxnSpPr>
          <p:spPr>
            <a:xfrm>
              <a:off x="6557963" y="446227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ector Reto 407"/>
            <p:cNvCxnSpPr/>
            <p:nvPr userDrawn="1"/>
          </p:nvCxnSpPr>
          <p:spPr>
            <a:xfrm>
              <a:off x="6557963" y="4818888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ector Reto 408"/>
            <p:cNvCxnSpPr/>
            <p:nvPr userDrawn="1"/>
          </p:nvCxnSpPr>
          <p:spPr>
            <a:xfrm>
              <a:off x="6557963" y="5175504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ector Reto 409"/>
            <p:cNvCxnSpPr/>
            <p:nvPr userDrawn="1"/>
          </p:nvCxnSpPr>
          <p:spPr>
            <a:xfrm>
              <a:off x="6557963" y="5532120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ector Reto 410"/>
            <p:cNvCxnSpPr/>
            <p:nvPr userDrawn="1"/>
          </p:nvCxnSpPr>
          <p:spPr>
            <a:xfrm>
              <a:off x="6557963" y="5888736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ector Reto 411"/>
            <p:cNvCxnSpPr/>
            <p:nvPr userDrawn="1"/>
          </p:nvCxnSpPr>
          <p:spPr>
            <a:xfrm>
              <a:off x="6557963" y="6245352"/>
              <a:ext cx="479583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1" name="Espaço Reservado para Texto 360"/>
          <p:cNvSpPr>
            <a:spLocks noGrp="1"/>
          </p:cNvSpPr>
          <p:nvPr>
            <p:ph type="body" sz="quarter" idx="13" hasCustomPrompt="1"/>
          </p:nvPr>
        </p:nvSpPr>
        <p:spPr>
          <a:xfrm>
            <a:off x="844865" y="3983201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374" name="Espaço Reservado para Texto 360"/>
          <p:cNvSpPr>
            <a:spLocks noGrp="1"/>
          </p:cNvSpPr>
          <p:nvPr>
            <p:ph type="body" sz="quarter" idx="14" hasCustomPrompt="1"/>
          </p:nvPr>
        </p:nvSpPr>
        <p:spPr>
          <a:xfrm>
            <a:off x="3541662" y="3989388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387" name="Espaço Reservado para Texto 360"/>
          <p:cNvSpPr>
            <a:spLocks noGrp="1"/>
          </p:cNvSpPr>
          <p:nvPr>
            <p:ph type="body" sz="quarter" idx="15" hasCustomPrompt="1"/>
          </p:nvPr>
        </p:nvSpPr>
        <p:spPr>
          <a:xfrm>
            <a:off x="6239849" y="3989388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  <p:sp>
        <p:nvSpPr>
          <p:cNvPr id="413" name="Espaço Reservado para Texto 360"/>
          <p:cNvSpPr>
            <a:spLocks noGrp="1"/>
          </p:cNvSpPr>
          <p:nvPr>
            <p:ph type="body" sz="quarter" idx="16" hasCustomPrompt="1"/>
          </p:nvPr>
        </p:nvSpPr>
        <p:spPr>
          <a:xfrm>
            <a:off x="8938036" y="3983201"/>
            <a:ext cx="2487168" cy="25100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pt-BR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7398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329F9C-3613-4FD8-9DA5-38CAF9EA2E8B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9267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AB4DC5-4FF9-40EA-94D1-81A2E2EC799A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14509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A0DDE3-7465-42A9-8DD7-D26BF7F252A3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391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C2A8DC-ECAC-4FB2-8F70-6E0E957016CA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2887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1A1444-DA71-46B2-80FA-EE098D8FCE91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5218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335809-C111-42F8-AFD4-D01B0D8107FD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13247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740DBB-FC39-4DF8-98B8-23C46E132264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0751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B81558-FEC8-46C3-BFC4-7712A2C557AB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2682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2B5525C-18AF-4B39-A1A8-BBC3F4F7835B}" type="datetime1">
              <a:rPr lang="pt-BR" noProof="0" smtClean="0"/>
              <a:t>03/12/2025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32BDE3A-8A5F-47C4-AA75-58FC1EB2D38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718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0" r:id="rId4"/>
    <p:sldLayoutId id="2147483661" r:id="rId5"/>
    <p:sldLayoutId id="214748365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65006" y="2493085"/>
            <a:ext cx="4182032" cy="203375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Aprendizado de Máquina</a:t>
            </a:r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pt-BR" sz="2000" dirty="0"/>
              <a:t>Monitoramento e Análise Preditiva de Dengue em Campinas</a:t>
            </a:r>
          </a:p>
        </p:txBody>
      </p:sp>
    </p:spTree>
    <p:extLst>
      <p:ext uri="{BB962C8B-B14F-4D97-AF65-F5344CB8AC3E}">
        <p14:creationId xmlns:p14="http://schemas.microsoft.com/office/powerpoint/2010/main" val="341977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/>
          <a:lstStyle/>
          <a:p>
            <a:pPr rtl="0"/>
            <a:r>
              <a:rPr lang="pt-BR" dirty="0"/>
              <a:t>Contextualização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61956"/>
            <a:ext cx="11157155" cy="3793270"/>
          </a:xfrm>
        </p:spPr>
        <p:txBody>
          <a:bodyPr rtlCol="0">
            <a:normAutofit/>
          </a:bodyPr>
          <a:lstStyle/>
          <a:p>
            <a:r>
              <a:rPr lang="pt-BR" b="1" dirty="0"/>
              <a:t>Cenário </a:t>
            </a:r>
          </a:p>
          <a:p>
            <a:pPr marL="342900" indent="-342900">
              <a:buAutoNum type="arabicPeriod"/>
            </a:pPr>
            <a:r>
              <a:rPr lang="pt-BR" dirty="0"/>
              <a:t>Cidade de Campinas enfrenta surtos de epidemia de Dengue.</a:t>
            </a:r>
          </a:p>
          <a:p>
            <a:pPr marL="342900" indent="-342900">
              <a:buAutoNum type="arabicPeriod"/>
            </a:pPr>
            <a:r>
              <a:rPr lang="pt-BR" dirty="0"/>
              <a:t>É algo recorrente. Acontece todos os anos, principalmente no verão.</a:t>
            </a:r>
          </a:p>
          <a:p>
            <a:pPr marL="342900" indent="-342900">
              <a:buAutoNum type="arabicPeriod"/>
            </a:pPr>
            <a:r>
              <a:rPr lang="pt-BR" dirty="0"/>
              <a:t>Sobrecarrega o sistema de saúde público.</a:t>
            </a:r>
          </a:p>
          <a:p>
            <a:endParaRPr lang="pt-BR" dirty="0"/>
          </a:p>
          <a:p>
            <a:r>
              <a:rPr lang="pt-BR" b="1" dirty="0"/>
              <a:t>Problema</a:t>
            </a:r>
          </a:p>
          <a:p>
            <a:r>
              <a:rPr lang="pt-BR" dirty="0"/>
              <a:t>Dificuldade em alocar recursos preventivos devido a ausência de dados objetivos a respeito da sazonalidade (locais de maiores concentrações de casos) e dos grupos de riscos (idosos e crianças).</a:t>
            </a:r>
          </a:p>
        </p:txBody>
      </p:sp>
    </p:spTree>
    <p:extLst>
      <p:ext uri="{BB962C8B-B14F-4D97-AF65-F5344CB8AC3E}">
        <p14:creationId xmlns:p14="http://schemas.microsoft.com/office/powerpoint/2010/main" val="23166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AE86A-D6FD-7D40-2031-BBFD979B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FEC72-279A-6C52-843F-3D4FC8B6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/>
          <a:lstStyle/>
          <a:p>
            <a:pPr rtl="0"/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1EBE4D-1AD2-30E5-62EE-A18CDCE3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956"/>
            <a:ext cx="10380406" cy="1856315"/>
          </a:xfrm>
        </p:spPr>
        <p:txBody>
          <a:bodyPr rtlCol="0">
            <a:normAutofit/>
          </a:bodyPr>
          <a:lstStyle/>
          <a:p>
            <a:r>
              <a:rPr lang="pt-BR" dirty="0"/>
              <a:t>Mapear o comportamento temporal e demográfico da doença em 2025.</a:t>
            </a:r>
          </a:p>
          <a:p>
            <a:r>
              <a:rPr lang="pt-BR" dirty="0"/>
              <a:t>Explorar as bases de dados de dengue para responder perguntas-chave sobre tempo, espaço e perfil dos casos. A motivação é gerar evidências objetivas para mapear sazonalidade, localizar áreas prioritárias e perfis de risco, e apoiar a alocação de recursos e ações de controle do vetor, diante dos recentes casos de dengue em Campinas e do impacto na rede de saúde.</a:t>
            </a:r>
          </a:p>
        </p:txBody>
      </p:sp>
    </p:spTree>
    <p:extLst>
      <p:ext uri="{BB962C8B-B14F-4D97-AF65-F5344CB8AC3E}">
        <p14:creationId xmlns:p14="http://schemas.microsoft.com/office/powerpoint/2010/main" val="75144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A60E3-B827-1170-98E6-C6D29C67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7FE71-A3BB-35D4-50BE-9266BB61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/>
          <a:lstStyle/>
          <a:p>
            <a:pPr rtl="0"/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ED015-345D-D999-75E0-EDDFFB692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22"/>
            <a:ext cx="10183761" cy="4733433"/>
          </a:xfrm>
        </p:spPr>
        <p:txBody>
          <a:bodyPr rtlCol="0">
            <a:normAutofit lnSpcReduction="10000"/>
          </a:bodyPr>
          <a:lstStyle/>
          <a:p>
            <a:r>
              <a:rPr lang="pt-BR" b="1" dirty="0"/>
              <a:t>Fonte</a:t>
            </a:r>
          </a:p>
          <a:p>
            <a:pPr algn="just"/>
            <a:r>
              <a:rPr lang="pt-BR" dirty="0"/>
              <a:t>Dados públicos do SINAN GOV  – Arboviroses.</a:t>
            </a:r>
          </a:p>
          <a:p>
            <a:pPr algn="just"/>
            <a:r>
              <a:rPr lang="pt-BR" b="1" dirty="0"/>
              <a:t>Recorte</a:t>
            </a:r>
          </a:p>
          <a:p>
            <a:pPr algn="just"/>
            <a:r>
              <a:rPr lang="pt-BR" dirty="0"/>
              <a:t>Casos notificados em Campinas no ano de 2025.</a:t>
            </a:r>
          </a:p>
          <a:p>
            <a:pPr algn="just"/>
            <a:r>
              <a:rPr lang="pt-BR" b="1" dirty="0"/>
              <a:t>Volume de dados</a:t>
            </a:r>
          </a:p>
          <a:p>
            <a:pPr algn="just"/>
            <a:r>
              <a:rPr lang="pt-BR" dirty="0"/>
              <a:t>21.671 notificações processadas de 1.000.000 de dados registrados.</a:t>
            </a:r>
          </a:p>
          <a:p>
            <a:pPr algn="just"/>
            <a:r>
              <a:rPr lang="pt-BR" b="1" dirty="0"/>
              <a:t>Tratamento dos dados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Limpeza de duplicatas e valores nulos.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Conversão de datas e idades.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Categorização da gravidade (dengue clássica ou grave).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095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DBDC-A7B6-F8FE-89BC-901F99D1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06C1A-CF19-F263-8AB8-66203FB2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/>
          <a:lstStyle/>
          <a:p>
            <a:pPr rtl="0"/>
            <a:r>
              <a:rPr lang="pt-BR" dirty="0"/>
              <a:t>Análise Exploratória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D863E2-4A8F-5D91-F8EA-267589342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2842"/>
            <a:ext cx="10183761" cy="4157688"/>
          </a:xfrm>
        </p:spPr>
        <p:txBody>
          <a:bodyPr rtlCol="0">
            <a:normAutofit/>
          </a:bodyPr>
          <a:lstStyle/>
          <a:p>
            <a:r>
              <a:rPr lang="pt-BR" b="1" dirty="0"/>
              <a:t>O que aconteceu em 2025?</a:t>
            </a:r>
          </a:p>
          <a:p>
            <a:pPr>
              <a:lnSpc>
                <a:spcPct val="100000"/>
              </a:lnSpc>
            </a:pPr>
            <a:r>
              <a:rPr lang="pt-BR" b="1" dirty="0"/>
              <a:t>Pico sazonal</a:t>
            </a:r>
          </a:p>
          <a:p>
            <a:pPr>
              <a:lnSpc>
                <a:spcPct val="100000"/>
              </a:lnSpc>
            </a:pPr>
            <a:r>
              <a:rPr lang="pt-BR" dirty="0"/>
              <a:t>Alta concentração no verão e início do Outono</a:t>
            </a:r>
          </a:p>
          <a:p>
            <a:pPr>
              <a:lnSpc>
                <a:spcPct val="150000"/>
              </a:lnSpc>
            </a:pPr>
            <a:r>
              <a:rPr lang="pt-BR" b="1" dirty="0"/>
              <a:t>Meses</a:t>
            </a:r>
            <a:br>
              <a:rPr lang="pt-BR" dirty="0"/>
            </a:br>
            <a:r>
              <a:rPr lang="pt-BR" dirty="0"/>
              <a:t>Março, Fevereiro e Abril concentraram </a:t>
            </a:r>
            <a:r>
              <a:rPr lang="pt-BR" b="1" dirty="0"/>
              <a:t>92%</a:t>
            </a:r>
            <a:r>
              <a:rPr lang="pt-BR" dirty="0"/>
              <a:t> dos casos do ano.</a:t>
            </a:r>
          </a:p>
          <a:p>
            <a:pPr>
              <a:lnSpc>
                <a:spcPct val="150000"/>
              </a:lnSpc>
            </a:pPr>
            <a:r>
              <a:rPr lang="pt-BR" b="1" dirty="0"/>
              <a:t>Tempo de Resposta</a:t>
            </a:r>
            <a:br>
              <a:rPr lang="pt-BR" b="1" dirty="0"/>
            </a:br>
            <a:r>
              <a:rPr lang="pt-BR" dirty="0"/>
              <a:t>A mediana de atraso entre o início dos sintomas e a notificação foi de </a:t>
            </a:r>
            <a:r>
              <a:rPr lang="pt-BR" b="1" dirty="0"/>
              <a:t>3 dias</a:t>
            </a:r>
            <a:r>
              <a:rPr lang="pt-BR" dirty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8872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7F6CA-AAD4-0DCB-CB70-CBA72D34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2A453-5302-0851-5CED-44211ECE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Análise Exploratória - Gráficos de Exemplos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CB11E2-7F2C-B068-5228-3846A3CBE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26" y="1768716"/>
            <a:ext cx="696374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8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1BDF-A6E7-C316-4343-A966D7A6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E0E14-C2A3-49EB-0C3B-DA9D8BC0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Análise Exploratória - Gráficos de Exemplos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4ECF6C3-F6B1-ED2E-8F7F-702F83670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54" y="1686764"/>
            <a:ext cx="11755491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34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99AAE-E05B-CA7D-5F25-6957EB0D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2EB92-249C-7CD1-B021-4EDE2260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Perfil de Gravidade e Óbitos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A03DA-5BF5-5CA2-9D0D-8963095BD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2842"/>
            <a:ext cx="10183761" cy="4157688"/>
          </a:xfrm>
        </p:spPr>
        <p:txBody>
          <a:bodyPr rtlCol="0">
            <a:normAutofit/>
          </a:bodyPr>
          <a:lstStyle/>
          <a:p>
            <a:r>
              <a:rPr lang="pt-BR" b="1" dirty="0"/>
              <a:t>Classificação dos casos</a:t>
            </a:r>
          </a:p>
          <a:p>
            <a:pPr marL="342900" indent="-342900">
              <a:buAutoNum type="arabicPeriod"/>
            </a:pPr>
            <a:r>
              <a:rPr lang="pt-BR" dirty="0"/>
              <a:t>A maioria dos casos são leves</a:t>
            </a:r>
          </a:p>
          <a:p>
            <a:pPr marL="342900" indent="-342900">
              <a:buAutoNum type="arabicPeriod"/>
            </a:pPr>
            <a:r>
              <a:rPr lang="pt-BR" dirty="0"/>
              <a:t>Os casos de sinais grave representam </a:t>
            </a:r>
            <a:r>
              <a:rPr lang="pt-BR" b="1" dirty="0"/>
              <a:t>3,1% </a:t>
            </a:r>
            <a:r>
              <a:rPr lang="pt-BR" dirty="0"/>
              <a:t>do total</a:t>
            </a:r>
          </a:p>
          <a:p>
            <a:pPr marL="342900" indent="-342900">
              <a:buAutoNum type="arabicPeriod"/>
            </a:pPr>
            <a:r>
              <a:rPr lang="pt-BR" dirty="0"/>
              <a:t>Total de </a:t>
            </a:r>
            <a:r>
              <a:rPr lang="pt-BR" b="1" dirty="0"/>
              <a:t>13 óbitos</a:t>
            </a:r>
          </a:p>
          <a:p>
            <a:pPr marL="342900" indent="-342900">
              <a:buAutoNum type="arabicPeriod"/>
            </a:pPr>
            <a:r>
              <a:rPr lang="pt-BR" dirty="0"/>
              <a:t>Taxa de Letalidade (CFR): 0.59 óbitos a cada 1.000 casos</a:t>
            </a:r>
          </a:p>
          <a:p>
            <a:pPr marL="342900" indent="-342900">
              <a:buAutoNum type="arabicPeriod"/>
            </a:pPr>
            <a:r>
              <a:rPr lang="pt-BR" dirty="0"/>
              <a:t>Os meses de março e abril representam as maiores taxas de letalidade</a:t>
            </a:r>
          </a:p>
        </p:txBody>
      </p:sp>
    </p:spTree>
    <p:extLst>
      <p:ext uri="{BB962C8B-B14F-4D97-AF65-F5344CB8AC3E}">
        <p14:creationId xmlns:p14="http://schemas.microsoft.com/office/powerpoint/2010/main" val="255624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51B4-1696-823B-A56F-D51B40AE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2D9E2-3935-C8E6-2FA5-8DBDD903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Abordagem e 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52D9CB-A335-F1E4-23CD-9E4DD4949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2841"/>
            <a:ext cx="10183761" cy="4904939"/>
          </a:xfrm>
        </p:spPr>
        <p:txBody>
          <a:bodyPr rtlCol="0">
            <a:normAutofit/>
          </a:bodyPr>
          <a:lstStyle/>
          <a:p>
            <a:r>
              <a:rPr lang="pt-BR" b="1" dirty="0"/>
              <a:t>Definição do Alvo [ Target ]</a:t>
            </a:r>
          </a:p>
          <a:p>
            <a:r>
              <a:rPr lang="pt-BR" dirty="0"/>
              <a:t>A variável alvo foi a severidade dos casos de dengue, no qual os casos graves foram classificados como (1) e os casos clássicos foram classificados como (0)</a:t>
            </a:r>
          </a:p>
          <a:p>
            <a:r>
              <a:rPr lang="pt-BR" b="1" dirty="0"/>
              <a:t>Algoritmos escolhidos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Regressão Logística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Random Forest (Floresta Aleatória)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XGBoost (Extreme </a:t>
            </a:r>
            <a:r>
              <a:rPr lang="pt-BR" dirty="0" err="1"/>
              <a:t>Gradient</a:t>
            </a:r>
            <a:r>
              <a:rPr lang="pt-BR" dirty="0"/>
              <a:t> </a:t>
            </a:r>
            <a:r>
              <a:rPr lang="pt-BR" dirty="0" err="1"/>
              <a:t>Boosting</a:t>
            </a:r>
            <a:r>
              <a:rPr lang="pt-BR" dirty="0"/>
              <a:t>)</a:t>
            </a:r>
          </a:p>
          <a:p>
            <a:r>
              <a:rPr lang="pt-BR" b="1" dirty="0"/>
              <a:t>Divisão dos dados</a:t>
            </a:r>
          </a:p>
          <a:p>
            <a:r>
              <a:rPr lang="pt-BR" dirty="0"/>
              <a:t> Após todas as transformações e preparações, a base de dados foi dividida em conjuntos de treino (X, Y) e teste (X, Y). Uma proporção de </a:t>
            </a:r>
            <a:r>
              <a:rPr lang="pt-BR" b="1" dirty="0"/>
              <a:t>80% dos dados foi alocada para treino e 20% para teste</a:t>
            </a:r>
            <a:r>
              <a:rPr lang="pt-BR" dirty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5796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800B-EE5C-1834-2AD1-BEC8854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7DBDD-1271-9FFF-977F-732CA21A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Resultados dos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057DF-0417-7DF6-5261-A7797A148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545022"/>
            <a:ext cx="10518058" cy="5059254"/>
          </a:xfrm>
        </p:spPr>
        <p:txBody>
          <a:bodyPr rtlCol="0">
            <a:normAutofit/>
          </a:bodyPr>
          <a:lstStyle/>
          <a:p>
            <a:r>
              <a:rPr lang="pt-BR" b="1" dirty="0"/>
              <a:t>Modelo ganhador</a:t>
            </a:r>
          </a:p>
          <a:p>
            <a:r>
              <a:rPr lang="pt-BR" dirty="0"/>
              <a:t>Random Forest e XGBoost, foram os modelos de melhor desempenho. O Random Forest destacou-se com o maior </a:t>
            </a:r>
            <a:r>
              <a:rPr lang="pt-BR" i="1" dirty="0"/>
              <a:t>Recall</a:t>
            </a:r>
            <a:r>
              <a:rPr lang="pt-BR" dirty="0"/>
              <a:t> e </a:t>
            </a:r>
            <a:r>
              <a:rPr lang="pt-BR" i="1" dirty="0"/>
              <a:t>ROC-AUC</a:t>
            </a:r>
            <a:r>
              <a:rPr lang="pt-BR" dirty="0"/>
              <a:t>, sendo excelente na identificação de casos severos. O XGBoost obteve o maior </a:t>
            </a:r>
            <a:r>
              <a:rPr lang="pt-BR" i="1" dirty="0"/>
              <a:t>F1-Score</a:t>
            </a:r>
            <a:r>
              <a:rPr lang="pt-BR" dirty="0"/>
              <a:t>, equilibrando precisão e recall. Ambos são recomendados</a:t>
            </a:r>
            <a:endParaRPr lang="pt-BR" b="1" dirty="0"/>
          </a:p>
          <a:p>
            <a:r>
              <a:rPr lang="pt-BR" b="1" dirty="0"/>
              <a:t>Variáveis mais importantes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estacao_Verão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HOSPITALIZ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LEUCOPENIA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CS_ESCOL_N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CS_FLXRET</a:t>
            </a:r>
          </a:p>
        </p:txBody>
      </p:sp>
    </p:spTree>
    <p:extLst>
      <p:ext uri="{BB962C8B-B14F-4D97-AF65-F5344CB8AC3E}">
        <p14:creationId xmlns:p14="http://schemas.microsoft.com/office/powerpoint/2010/main" val="289594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88DC-C670-DF8D-5837-BB22565F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D8775-23CF-E4C0-1849-B8CF2C8C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45"/>
            <a:ext cx="6934201" cy="965477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Conclusões e impacto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1F447D-5CC7-AD87-6694-A0CA62530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022"/>
            <a:ext cx="10183761" cy="4823280"/>
          </a:xfrm>
        </p:spPr>
        <p:txBody>
          <a:bodyPr rtlCol="0">
            <a:normAutofit fontScale="85000" lnSpcReduction="20000"/>
          </a:bodyPr>
          <a:lstStyle/>
          <a:p>
            <a:r>
              <a:rPr lang="pt-BR" b="1" dirty="0"/>
              <a:t>Diagnóstico</a:t>
            </a:r>
          </a:p>
          <a:p>
            <a:r>
              <a:rPr lang="pt-BR" dirty="0"/>
              <a:t>2025 foi um ano de alta concentração no primeiro quadrimestre exigindo mobilização rápida em Fevereiro e Março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Eficácia do Modelo</a:t>
            </a:r>
          </a:p>
          <a:p>
            <a:r>
              <a:rPr lang="pt-BR" b="1" dirty="0"/>
              <a:t>Random Forest:</a:t>
            </a:r>
            <a:r>
              <a:rPr lang="pt-BR" dirty="0"/>
              <a:t> Alcançou uma Acurácia de </a:t>
            </a:r>
            <a:r>
              <a:rPr lang="pt-BR" b="1" dirty="0"/>
              <a:t>97.6%</a:t>
            </a:r>
            <a:r>
              <a:rPr lang="pt-BR" dirty="0"/>
              <a:t>, Precisão de </a:t>
            </a:r>
            <a:r>
              <a:rPr lang="pt-BR" b="1" dirty="0"/>
              <a:t>97.3%</a:t>
            </a:r>
            <a:r>
              <a:rPr lang="pt-BR" dirty="0"/>
              <a:t>, Recall de </a:t>
            </a:r>
            <a:r>
              <a:rPr lang="pt-BR" b="1" dirty="0"/>
              <a:t>97.6%</a:t>
            </a:r>
            <a:r>
              <a:rPr lang="pt-BR" dirty="0"/>
              <a:t> e F1-Score de </a:t>
            </a:r>
            <a:r>
              <a:rPr lang="pt-BR" b="1" dirty="0"/>
              <a:t>97.1%</a:t>
            </a:r>
            <a:r>
              <a:rPr lang="pt-BR" dirty="0"/>
              <a:t>. Seu ROC-AUC foi de </a:t>
            </a:r>
            <a:r>
              <a:rPr lang="pt-BR" b="1" dirty="0"/>
              <a:t>0.937</a:t>
            </a:r>
            <a:r>
              <a:rPr lang="pt-BR" dirty="0"/>
              <a:t>, indicando uma excelente capacidade de discriminação entre as classes de severidade.</a:t>
            </a:r>
          </a:p>
          <a:p>
            <a:r>
              <a:rPr lang="pt-BR" b="1" dirty="0"/>
              <a:t>XGBoost:</a:t>
            </a:r>
            <a:r>
              <a:rPr lang="pt-BR" dirty="0"/>
              <a:t> Apresentou uma Acurácia de </a:t>
            </a:r>
            <a:r>
              <a:rPr lang="pt-BR" b="1" dirty="0"/>
              <a:t>97.3%</a:t>
            </a:r>
            <a:r>
              <a:rPr lang="pt-BR" dirty="0"/>
              <a:t>, Precisão de </a:t>
            </a:r>
            <a:r>
              <a:rPr lang="pt-BR" b="1" dirty="0"/>
              <a:t>97.3%</a:t>
            </a:r>
            <a:r>
              <a:rPr lang="pt-BR" dirty="0"/>
              <a:t>, Recall de </a:t>
            </a:r>
            <a:r>
              <a:rPr lang="pt-BR" b="1" dirty="0"/>
              <a:t>97.3%</a:t>
            </a:r>
            <a:r>
              <a:rPr lang="pt-BR" dirty="0"/>
              <a:t> e o melhor F1-Score de </a:t>
            </a:r>
            <a:r>
              <a:rPr lang="pt-BR" b="1" dirty="0"/>
              <a:t>97.3%</a:t>
            </a:r>
            <a:r>
              <a:rPr lang="pt-BR" dirty="0"/>
              <a:t>. Seu ROC-AUC foi de </a:t>
            </a:r>
            <a:r>
              <a:rPr lang="pt-BR" b="1" dirty="0"/>
              <a:t>0.926</a:t>
            </a:r>
            <a:r>
              <a:rPr lang="pt-BR" dirty="0"/>
              <a:t>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Aplicações dos resultados na prática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Suporte à triagem hospitalar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Planejamento de estoque de insumos antes dos meses de pico</a:t>
            </a: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Melhoria na visualização das informações 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95316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28DB-CE24-4EC9-E66E-96939CD6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BC7F5-3D0F-D479-221A-6AA143BC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054" y="2946261"/>
            <a:ext cx="5955891" cy="965477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638652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">
      <a:dk1>
        <a:sysClr val="windowText" lastClr="000000"/>
      </a:dk1>
      <a:lt1>
        <a:sysClr val="window" lastClr="FFFFFF"/>
      </a:lt1>
      <a:dk2>
        <a:srgbClr val="2D3C50"/>
      </a:dk2>
      <a:lt2>
        <a:srgbClr val="CBD1D1"/>
      </a:lt2>
      <a:accent1>
        <a:srgbClr val="46A0D8"/>
      </a:accent1>
      <a:accent2>
        <a:srgbClr val="CC5B27"/>
      </a:accent2>
      <a:accent3>
        <a:srgbClr val="33AC55"/>
      </a:accent3>
      <a:accent4>
        <a:srgbClr val="EE9F20"/>
      </a:accent4>
      <a:accent5>
        <a:srgbClr val="824D9D"/>
      </a:accent5>
      <a:accent6>
        <a:srgbClr val="3ABA99"/>
      </a:accent6>
      <a:hlink>
        <a:srgbClr val="0563C1"/>
      </a:hlink>
      <a:folHlink>
        <a:srgbClr val="954F72"/>
      </a:folHlink>
    </a:clrScheme>
    <a:fontScheme name="Custom 2">
      <a:majorFont>
        <a:latin typeface="Century Gothic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0898838_TF16401942_Win32" id="{C26C2C10-4920-4460-828C-85B39D58089C}" vid="{D9BA48B5-8C22-42C1-8F3F-EF7EF44FA8E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0488788-02F3-4614-A0E2-F208657CDF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04D194-9020-4D77-BCEE-37803F7241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44A853-FA74-45B4-AE5F-B3796F4BB94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Controlador de Hábitos Saudáveis</Template>
  <TotalTime>97</TotalTime>
  <Words>635</Words>
  <Application>Microsoft Office PowerPoint</Application>
  <PresentationFormat>Widescreen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Tema do Office</vt:lpstr>
      <vt:lpstr>Aprendizado de Máquina</vt:lpstr>
      <vt:lpstr>Contextualização</vt:lpstr>
      <vt:lpstr>Objetivo</vt:lpstr>
      <vt:lpstr>Metodologia</vt:lpstr>
      <vt:lpstr>Análise Exploratória</vt:lpstr>
      <vt:lpstr>Análise Exploratória - Gráficos de Exemplos</vt:lpstr>
      <vt:lpstr>Análise Exploratória - Gráficos de Exemplos</vt:lpstr>
      <vt:lpstr>Perfil de Gravidade e Óbitos</vt:lpstr>
      <vt:lpstr>Abordagem e modelagem</vt:lpstr>
      <vt:lpstr>Resultados dos Modelos</vt:lpstr>
      <vt:lpstr>Conclusões e impacto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 Thiago</dc:creator>
  <cp:lastModifiedBy>Thiago  Thiago</cp:lastModifiedBy>
  <cp:revision>5</cp:revision>
  <dcterms:created xsi:type="dcterms:W3CDTF">2025-12-01T23:13:44Z</dcterms:created>
  <dcterms:modified xsi:type="dcterms:W3CDTF">2025-12-03T23:11:48Z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